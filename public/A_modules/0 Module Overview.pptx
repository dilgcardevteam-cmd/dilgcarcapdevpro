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Lexend" panose="020B0604020202020204" charset="0"/>
      <p:regular r:id="rId27"/>
      <p:bold r:id="rId28"/>
    </p:embeddedFont>
    <p:embeddedFont>
      <p:font typeface="Lexend SemiBold" panose="020B0604020202020204" charset="0"/>
      <p:regular r:id="rId29"/>
      <p:bold r:id="rId30"/>
    </p:embeddedFont>
    <p:embeddedFont>
      <p:font typeface="Nunito" panose="020F0502020204030204" pitchFamily="2" charset="0"/>
      <p:regular r:id="rId31"/>
      <p:bold r:id="rId32"/>
      <p:italic r:id="rId33"/>
      <p:boldItalic r:id="rId34"/>
    </p:embeddedFont>
    <p:embeddedFont>
      <p:font typeface="Proxima Nova" panose="020B0604020202020204" charset="0"/>
      <p:regular r:id="rId35"/>
      <p:bold r:id="rId36"/>
      <p:italic r:id="rId37"/>
      <p:boldItalic r:id="rId38"/>
    </p:embeddedFont>
    <p:embeddedFont>
      <p:font typeface="Rubik" panose="020B0604020202020204" charset="-79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jeZIpqtnkD2Tny0TsCq9pFtmnQ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67656-C604-4CE3-AD7C-2939F53493EE}">
  <a:tblStyle styleId="{38767656-C604-4CE3-AD7C-2939F53493E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5e8e005b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g25e8e005b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967c7bcb8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2967c7bcb8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e7b5e68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5e7b5e68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5e7b5e683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25e7b5e683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e7b5e683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25e7b5e683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e7b5e683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25e7b5e683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e7b5e683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5e7b5e683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e8c3e2a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6e8c3e2a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e8c3e2ae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6e8c3e2ae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e7b5e6839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5e7b5e6839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e8c3e2ae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26e8c3e2ae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eab79773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26eab79773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e7b5e683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25e7b5e683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e7b5e683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25e7b5e683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e7b5e6839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25e7b5e6839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e7b5e683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25e7b5e683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e8c3e2ae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26e8c3e2ae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e8c3e2ae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26e8c3e2ae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e8c3e2ae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26e8c3e2ae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eab7977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eab7977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e8e005ba6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5e8e005ba6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1_1_2_2">
    <p:bg>
      <p:bgPr>
        <a:solidFill>
          <a:srgbClr val="F8F8F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Slide">
  <p:cSld name="TITLE_1_1_2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399999">
            <a:off x="-836155" y="-9916"/>
            <a:ext cx="2969583" cy="2449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1">
            <a:off x="7755395" y="3857234"/>
            <a:ext cx="2969583" cy="244990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8"/>
          <p:cNvSpPr txBox="1">
            <a:spLocks noGrp="1"/>
          </p:cNvSpPr>
          <p:nvPr>
            <p:ph type="title"/>
          </p:nvPr>
        </p:nvSpPr>
        <p:spPr>
          <a:xfrm>
            <a:off x="2428875" y="552450"/>
            <a:ext cx="51150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 b="1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Slide">
  <p:cSld name="TITLE_1_1_2_3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326590" y="-54411"/>
            <a:ext cx="11199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9"/>
          <p:cNvSpPr txBox="1">
            <a:spLocks noGrp="1"/>
          </p:cNvSpPr>
          <p:nvPr>
            <p:ph type="title"/>
          </p:nvPr>
        </p:nvSpPr>
        <p:spPr>
          <a:xfrm>
            <a:off x="628650" y="180975"/>
            <a:ext cx="8019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 b="1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3" name="Google Shape;23;p49"/>
          <p:cNvSpPr txBox="1"/>
          <p:nvPr/>
        </p:nvSpPr>
        <p:spPr>
          <a:xfrm>
            <a:off x="971550" y="1114425"/>
            <a:ext cx="745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" name="Google Shape;24;p49"/>
          <p:cNvSpPr txBox="1">
            <a:spLocks noGrp="1"/>
          </p:cNvSpPr>
          <p:nvPr>
            <p:ph type="body" idx="1"/>
          </p:nvPr>
        </p:nvSpPr>
        <p:spPr>
          <a:xfrm>
            <a:off x="628725" y="1123950"/>
            <a:ext cx="8019900" cy="3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  <a:defRPr sz="2000"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Message Slide 2">
  <p:cSld name="TITLE_1">
    <p:bg>
      <p:bgPr>
        <a:solidFill>
          <a:srgbClr val="0034A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1"/>
          <p:cNvSpPr txBox="1">
            <a:spLocks noGrp="1"/>
          </p:cNvSpPr>
          <p:nvPr>
            <p:ph type="title"/>
          </p:nvPr>
        </p:nvSpPr>
        <p:spPr>
          <a:xfrm>
            <a:off x="352425" y="333375"/>
            <a:ext cx="8353500" cy="4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00"/>
              </a:buClr>
              <a:buSzPts val="3000"/>
              <a:buFont typeface="Lexend"/>
              <a:buNone/>
              <a:defRPr sz="3000" b="1" i="1">
                <a:solidFill>
                  <a:srgbClr val="FFD100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bg>
      <p:bgPr>
        <a:solidFill>
          <a:srgbClr val="0B1B4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6775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 1">
  <p:cSld name="TITLE_1_1_1">
    <p:bg>
      <p:bgPr>
        <a:solidFill>
          <a:srgbClr val="E3EB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9359" y="0"/>
            <a:ext cx="33947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 2 1">
  <p:cSld name="TITLE_1_1_2_1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SemiBold"/>
              <a:buNone/>
              <a:defRPr sz="2800" b="0" i="0" u="none" strike="noStrike" cap="non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://drive.google.com/file/d/1ziKd8hb5sCxEl52RVX5lYgCqskDcWWY4/view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/>
          <p:nvPr/>
        </p:nvSpPr>
        <p:spPr>
          <a:xfrm>
            <a:off x="1255225" y="1411324"/>
            <a:ext cx="6711900" cy="2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1" i="0" u="none" strike="noStrike" cap="none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BASIC RESEARCH</a:t>
            </a:r>
            <a:endParaRPr sz="6000" b="1" i="0" u="none" strike="noStrike" cap="none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255225" y="3539025"/>
            <a:ext cx="6711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" name="Google Shape;4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">
            <a:off x="-718481" y="2922092"/>
            <a:ext cx="3338714" cy="275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5e8e005ba6_0_0"/>
          <p:cNvSpPr txBox="1"/>
          <p:nvPr/>
        </p:nvSpPr>
        <p:spPr>
          <a:xfrm>
            <a:off x="1331425" y="168474"/>
            <a:ext cx="6711900" cy="2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49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Expectation-Setting</a:t>
            </a:r>
            <a:endParaRPr sz="49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>
                <a:solidFill>
                  <a:srgbClr val="0034AF"/>
                </a:solidFill>
                <a:latin typeface="Lexend"/>
                <a:ea typeface="Lexend"/>
                <a:cs typeface="Lexend"/>
                <a:sym typeface="Lexend"/>
              </a:rPr>
              <a:t>Module </a:t>
            </a:r>
            <a:r>
              <a:rPr lang="en" sz="1900" b="1">
                <a:solidFill>
                  <a:srgbClr val="0034AF"/>
                </a:solidFill>
                <a:latin typeface="Lexend"/>
                <a:ea typeface="Lexend"/>
                <a:cs typeface="Lexend"/>
                <a:sym typeface="Lexend"/>
              </a:rPr>
              <a:t>II</a:t>
            </a:r>
            <a:r>
              <a:rPr lang="en" sz="1900" b="1" i="0" u="none" strike="noStrike" cap="none">
                <a:solidFill>
                  <a:srgbClr val="0034AF"/>
                </a:solidFill>
                <a:latin typeface="Lexend"/>
                <a:ea typeface="Lexend"/>
                <a:cs typeface="Lexend"/>
                <a:sym typeface="Lexend"/>
              </a:rPr>
              <a:t>: Basic Research</a:t>
            </a:r>
            <a:endParaRPr sz="49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g25e8e005ba6_0_0"/>
          <p:cNvSpPr txBox="1"/>
          <p:nvPr/>
        </p:nvSpPr>
        <p:spPr>
          <a:xfrm>
            <a:off x="2931625" y="2677075"/>
            <a:ext cx="57768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do I hope to gain from Module I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Basic Research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do I expect from the following: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a.) Coaches and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b.) co-apprentices in this learning journey?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1" name="Google Shape;51;g25e8e005ba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">
            <a:off x="-718481" y="2845892"/>
            <a:ext cx="3338714" cy="275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25e8e005ba6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67c7bcb8a_0_6"/>
          <p:cNvSpPr txBox="1"/>
          <p:nvPr/>
        </p:nvSpPr>
        <p:spPr>
          <a:xfrm>
            <a:off x="1255225" y="1411324"/>
            <a:ext cx="6711900" cy="2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BASIC RESEARCH</a:t>
            </a:r>
            <a:endParaRPr sz="60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>
                <a:solidFill>
                  <a:srgbClr val="0034AF"/>
                </a:solidFill>
                <a:latin typeface="Lexend"/>
                <a:ea typeface="Lexend"/>
                <a:cs typeface="Lexend"/>
                <a:sym typeface="Lexend"/>
              </a:rPr>
              <a:t>Module Overview</a:t>
            </a:r>
            <a:endParaRPr sz="60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g2967c7bcb8a_0_6"/>
          <p:cNvSpPr txBox="1"/>
          <p:nvPr/>
        </p:nvSpPr>
        <p:spPr>
          <a:xfrm>
            <a:off x="1255225" y="3539025"/>
            <a:ext cx="6711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16 April 2024, Tuesday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9" name="Google Shape;59;g2967c7bcb8a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">
            <a:off x="-718481" y="2922092"/>
            <a:ext cx="3338714" cy="275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2967c7bcb8a_0_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e7b5e6839_0_8"/>
          <p:cNvSpPr txBox="1">
            <a:spLocks noGrp="1"/>
          </p:cNvSpPr>
          <p:nvPr>
            <p:ph type="title"/>
          </p:nvPr>
        </p:nvSpPr>
        <p:spPr>
          <a:xfrm>
            <a:off x="2014500" y="1118250"/>
            <a:ext cx="5115000" cy="29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44"/>
              <a:buNone/>
            </a:pPr>
            <a:r>
              <a:rPr lang="en" sz="2400">
                <a:solidFill>
                  <a:srgbClr val="0034AF"/>
                </a:solidFill>
              </a:rPr>
              <a:t>OBJECTIVE</a:t>
            </a:r>
            <a:endParaRPr sz="4966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/>
              <a:t>Apply basic research concepts in developing a research proposal on topics related to local governance</a:t>
            </a:r>
            <a:endParaRPr sz="3000"/>
          </a:p>
        </p:txBody>
      </p:sp>
      <p:pic>
        <p:nvPicPr>
          <p:cNvPr id="66" name="Google Shape;66;g25e7b5e6839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e7b5e6839_0_23"/>
          <p:cNvSpPr txBox="1">
            <a:spLocks noGrp="1"/>
          </p:cNvSpPr>
          <p:nvPr>
            <p:ph type="title"/>
          </p:nvPr>
        </p:nvSpPr>
        <p:spPr>
          <a:xfrm>
            <a:off x="591225" y="484150"/>
            <a:ext cx="3924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Specific Objectives</a:t>
            </a:r>
            <a:endParaRPr sz="3000"/>
          </a:p>
        </p:txBody>
      </p:sp>
      <p:sp>
        <p:nvSpPr>
          <p:cNvPr id="72" name="Google Shape;72;g25e7b5e6839_0_23"/>
          <p:cNvSpPr txBox="1">
            <a:spLocks noGrp="1"/>
          </p:cNvSpPr>
          <p:nvPr>
            <p:ph type="body" idx="1"/>
          </p:nvPr>
        </p:nvSpPr>
        <p:spPr>
          <a:xfrm>
            <a:off x="576900" y="1260925"/>
            <a:ext cx="8006100" cy="3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Relate the importance of research in one’s personal and professional life 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Enumerate various research-related tasks assigned to LGOOs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Formulate a clear, specific, and grounded </a:t>
            </a:r>
            <a:r>
              <a:rPr lang="en" sz="2400" b="1">
                <a:solidFill>
                  <a:schemeClr val="dk1"/>
                </a:solidFill>
              </a:rPr>
              <a:t>research problem</a:t>
            </a: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Summarize </a:t>
            </a:r>
            <a:r>
              <a:rPr lang="en" sz="2400" b="1">
                <a:solidFill>
                  <a:schemeClr val="dk1"/>
                </a:solidFill>
              </a:rPr>
              <a:t>related literature</a:t>
            </a: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Design a responsive </a:t>
            </a:r>
            <a:r>
              <a:rPr lang="en" sz="2400" b="1">
                <a:solidFill>
                  <a:schemeClr val="dk1"/>
                </a:solidFill>
              </a:rPr>
              <a:t>research methodology</a:t>
            </a:r>
            <a:r>
              <a:rPr lang="en" sz="2400">
                <a:solidFill>
                  <a:schemeClr val="dk1"/>
                </a:solidFill>
              </a:rPr>
              <a:t> to answer research questions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Generate a well-written </a:t>
            </a:r>
            <a:r>
              <a:rPr lang="en" sz="2400" b="1">
                <a:solidFill>
                  <a:schemeClr val="dk1"/>
                </a:solidFill>
              </a:rPr>
              <a:t>basic research proposal</a:t>
            </a:r>
            <a:r>
              <a:rPr lang="en" sz="2400">
                <a:solidFill>
                  <a:schemeClr val="dk1"/>
                </a:solidFill>
              </a:rPr>
              <a:t> on a topic related to local governance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73" name="Google Shape;73;g25e7b5e6839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e7b5e6839_0_88"/>
          <p:cNvSpPr txBox="1">
            <a:spLocks noGrp="1"/>
          </p:cNvSpPr>
          <p:nvPr>
            <p:ph type="title"/>
          </p:nvPr>
        </p:nvSpPr>
        <p:spPr>
          <a:xfrm>
            <a:off x="991775" y="1019925"/>
            <a:ext cx="2853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Methodology</a:t>
            </a:r>
            <a:endParaRPr sz="3000"/>
          </a:p>
        </p:txBody>
      </p:sp>
      <p:sp>
        <p:nvSpPr>
          <p:cNvPr id="79" name="Google Shape;79;g25e7b5e6839_0_88"/>
          <p:cNvSpPr txBox="1">
            <a:spLocks noGrp="1"/>
          </p:cNvSpPr>
          <p:nvPr>
            <p:ph type="body" idx="1"/>
          </p:nvPr>
        </p:nvSpPr>
        <p:spPr>
          <a:xfrm>
            <a:off x="591225" y="1647725"/>
            <a:ext cx="3479400" cy="27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Lecture-Discussion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Panel-Discussion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Group Sharing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Workshops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Writeshops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Field Immersion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Oral Presentation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80" name="Google Shape;80;g25e7b5e6839_0_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25e7b5e6839_0_88"/>
          <p:cNvSpPr txBox="1">
            <a:spLocks noGrp="1"/>
          </p:cNvSpPr>
          <p:nvPr>
            <p:ph type="title"/>
          </p:nvPr>
        </p:nvSpPr>
        <p:spPr>
          <a:xfrm>
            <a:off x="5083800" y="1019925"/>
            <a:ext cx="2853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Outputs</a:t>
            </a:r>
            <a:endParaRPr sz="3000"/>
          </a:p>
        </p:txBody>
      </p:sp>
      <p:sp>
        <p:nvSpPr>
          <p:cNvPr id="82" name="Google Shape;82;g25e7b5e6839_0_88"/>
          <p:cNvSpPr txBox="1">
            <a:spLocks noGrp="1"/>
          </p:cNvSpPr>
          <p:nvPr>
            <p:ph type="body" idx="1"/>
          </p:nvPr>
        </p:nvSpPr>
        <p:spPr>
          <a:xfrm>
            <a:off x="4683250" y="1647725"/>
            <a:ext cx="3981600" cy="27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Research Problem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Review of Related Literature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Research Methodology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Basic Research Proposal</a:t>
            </a:r>
            <a:endParaRPr sz="2400">
              <a:solidFill>
                <a:schemeClr val="dk1"/>
              </a:solidFill>
            </a:endParaRPr>
          </a:p>
        </p:txBody>
      </p:sp>
      <p:cxnSp>
        <p:nvCxnSpPr>
          <p:cNvPr id="83" name="Google Shape;83;g25e7b5e6839_0_88"/>
          <p:cNvCxnSpPr/>
          <p:nvPr/>
        </p:nvCxnSpPr>
        <p:spPr>
          <a:xfrm>
            <a:off x="4390800" y="1087225"/>
            <a:ext cx="0" cy="3188700"/>
          </a:xfrm>
          <a:prstGeom prst="straightConnector1">
            <a:avLst/>
          </a:prstGeom>
          <a:noFill/>
          <a:ln w="28575" cap="flat" cmpd="sng">
            <a:solidFill>
              <a:srgbClr val="FFD1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5e7b5e6839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5e7b5e6839_0_97"/>
          <p:cNvSpPr/>
          <p:nvPr/>
        </p:nvSpPr>
        <p:spPr>
          <a:xfrm>
            <a:off x="362975" y="10573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" name="Google Shape;90;g25e7b5e6839_0_97"/>
          <p:cNvGraphicFramePr/>
          <p:nvPr/>
        </p:nvGraphicFramePr>
        <p:xfrm>
          <a:off x="362963" y="193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197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 Overview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1:00 - 5:00 pm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 1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Setting up the Research Perspective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i="0" u="none" strike="noStrike" cap="none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Asynchronous</a:t>
                      </a:r>
                      <a:endParaRPr sz="2000" b="1" i="0" u="none" strike="noStrike" cap="none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0" i="0" u="none" strike="noStrike" cap="none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My Research Skills (CapDev Pro)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6:00 - 11:59pm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" name="Google Shape;91;g25e7b5e6839_0_97"/>
          <p:cNvSpPr/>
          <p:nvPr/>
        </p:nvSpPr>
        <p:spPr>
          <a:xfrm>
            <a:off x="3119000" y="10573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D1 | 16 April 2024, Tue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25e7b5e6839_0_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5e7b5e6839_0_111"/>
          <p:cNvSpPr/>
          <p:nvPr/>
        </p:nvSpPr>
        <p:spPr>
          <a:xfrm>
            <a:off x="362975" y="10573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" name="Google Shape;98;g25e7b5e6839_0_111"/>
          <p:cNvGraphicFramePr/>
          <p:nvPr/>
        </p:nvGraphicFramePr>
        <p:xfrm>
          <a:off x="362963" y="193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23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 2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Research at a Glance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7:30 - 12:00 NN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Mini Workshop 1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Formulating the Research Problem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 3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Analyses in Local Governance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Asynchronous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1. Problem of the Study (CapDev Pro)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6:00 - 11:59pm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" name="Google Shape;99;g25e7b5e6839_0_111"/>
          <p:cNvSpPr/>
          <p:nvPr/>
        </p:nvSpPr>
        <p:spPr>
          <a:xfrm>
            <a:off x="362975" y="2382850"/>
            <a:ext cx="2346300" cy="568200"/>
          </a:xfrm>
          <a:prstGeom prst="ellipse">
            <a:avLst/>
          </a:prstGeom>
          <a:noFill/>
          <a:ln w="38100" cap="flat" cmpd="sng">
            <a:solidFill>
              <a:srgbClr val="D01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g25e7b5e6839_0_111"/>
          <p:cNvSpPr/>
          <p:nvPr/>
        </p:nvSpPr>
        <p:spPr>
          <a:xfrm>
            <a:off x="3119050" y="10573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D2 | 17 April 2024, Wed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6e8c3e2ae0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6e8c3e2ae0_0_0"/>
          <p:cNvSpPr/>
          <p:nvPr/>
        </p:nvSpPr>
        <p:spPr>
          <a:xfrm>
            <a:off x="339163" y="8969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7" name="Google Shape;107;g26e8c3e2ae0_0_0"/>
          <p:cNvGraphicFramePr/>
          <p:nvPr/>
        </p:nvGraphicFramePr>
        <p:xfrm>
          <a:off x="339151" y="177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239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 </a:t>
                      </a:r>
                      <a:r>
                        <a:rPr lang="en" sz="20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 Literature Review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Mini Workshop 2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Review of Related Literature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 4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Effective Research Writing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 5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Answering the Research Questions Rightly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Workshop 3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Designing the Research Methodology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Asynchronous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 Review of Related Literatures (CapDev Pro)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8" name="Google Shape;108;g26e8c3e2ae0_0_0"/>
          <p:cNvSpPr/>
          <p:nvPr/>
        </p:nvSpPr>
        <p:spPr>
          <a:xfrm>
            <a:off x="3095238" y="8969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| 1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April 2024,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Thu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g26e8c3e2ae0_0_0"/>
          <p:cNvSpPr/>
          <p:nvPr/>
        </p:nvSpPr>
        <p:spPr>
          <a:xfrm>
            <a:off x="362963" y="2267725"/>
            <a:ext cx="2493000" cy="565500"/>
          </a:xfrm>
          <a:prstGeom prst="ellipse">
            <a:avLst/>
          </a:prstGeom>
          <a:noFill/>
          <a:ln w="38100" cap="flat" cmpd="sng">
            <a:solidFill>
              <a:srgbClr val="D01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g26e8c3e2ae0_0_0"/>
          <p:cNvSpPr/>
          <p:nvPr/>
        </p:nvSpPr>
        <p:spPr>
          <a:xfrm>
            <a:off x="339138" y="3724325"/>
            <a:ext cx="2493000" cy="565500"/>
          </a:xfrm>
          <a:prstGeom prst="ellipse">
            <a:avLst/>
          </a:prstGeom>
          <a:noFill/>
          <a:ln w="38100" cap="flat" cmpd="sng">
            <a:solidFill>
              <a:srgbClr val="D01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6e8c3e2ae0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6e8c3e2ae0_0_10"/>
          <p:cNvSpPr/>
          <p:nvPr/>
        </p:nvSpPr>
        <p:spPr>
          <a:xfrm>
            <a:off x="339163" y="8969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" name="Google Shape;117;g26e8c3e2ae0_0_10"/>
          <p:cNvGraphicFramePr/>
          <p:nvPr/>
        </p:nvGraphicFramePr>
        <p:xfrm>
          <a:off x="339151" y="177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239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Asynchronous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 </a:t>
                      </a: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Research Outline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 (CapDev Pro)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" name="Google Shape;118;g26e8c3e2ae0_0_10"/>
          <p:cNvSpPr/>
          <p:nvPr/>
        </p:nvSpPr>
        <p:spPr>
          <a:xfrm>
            <a:off x="3095238" y="8969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| 1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April 2024,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Friday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5e7b5e6839_0_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5e7b5e6839_0_141"/>
          <p:cNvSpPr/>
          <p:nvPr/>
        </p:nvSpPr>
        <p:spPr>
          <a:xfrm>
            <a:off x="362975" y="7525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5" name="Google Shape;125;g25e7b5e6839_0_141"/>
          <p:cNvGraphicFramePr/>
          <p:nvPr/>
        </p:nvGraphicFramePr>
        <p:xfrm>
          <a:off x="362963" y="162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18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Synchronous 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Coaching/Workshop</a:t>
                      </a: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: Research Proposal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Research Proposal Presentation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8:00 - 12:00nn</a:t>
                      </a:r>
                      <a:endParaRPr sz="20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Asynchronous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 </a:t>
                      </a: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Final Research Proposal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 (CapDev Pro)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6:00 - 11:59 pm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6" name="Google Shape;126;g25e7b5e6839_0_141"/>
          <p:cNvSpPr/>
          <p:nvPr/>
        </p:nvSpPr>
        <p:spPr>
          <a:xfrm>
            <a:off x="3119050" y="7525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D5 |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Nov 202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Sat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26e8c3e2ae0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6e8c3e2ae0_0_20"/>
          <p:cNvSpPr/>
          <p:nvPr/>
        </p:nvSpPr>
        <p:spPr>
          <a:xfrm>
            <a:off x="362975" y="7525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3" name="Google Shape;133;g26e8c3e2ae0_0_20"/>
          <p:cNvGraphicFramePr/>
          <p:nvPr/>
        </p:nvGraphicFramePr>
        <p:xfrm>
          <a:off x="362963" y="162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210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Asynchronous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 </a:t>
                      </a: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Final Research Proposal</a:t>
                      </a: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 (CapDev Pro)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" name="Google Shape;134;g26e8c3e2ae0_0_20"/>
          <p:cNvSpPr/>
          <p:nvPr/>
        </p:nvSpPr>
        <p:spPr>
          <a:xfrm>
            <a:off x="3119050" y="7525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|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Nov 202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Sun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26eab79773f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6eab79773f_0_7"/>
          <p:cNvSpPr/>
          <p:nvPr/>
        </p:nvSpPr>
        <p:spPr>
          <a:xfrm>
            <a:off x="362975" y="752525"/>
            <a:ext cx="26583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1" name="Google Shape;141;g26eab79773f_0_7"/>
          <p:cNvGraphicFramePr/>
          <p:nvPr/>
        </p:nvGraphicFramePr>
        <p:xfrm>
          <a:off x="362963" y="162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217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S</a:t>
                      </a: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ynchronous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Closing Program and turn over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8:30 am onwards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Google Shape;142;g26eab79773f_0_7"/>
          <p:cNvSpPr/>
          <p:nvPr/>
        </p:nvSpPr>
        <p:spPr>
          <a:xfrm>
            <a:off x="3119050" y="752525"/>
            <a:ext cx="5709600" cy="70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|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 Nov 202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3200" b="1" i="0" u="none" strike="noStrike" cap="none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3200" b="1">
                <a:solidFill>
                  <a:srgbClr val="111E6C"/>
                </a:solidFill>
                <a:latin typeface="Lexend"/>
                <a:ea typeface="Lexend"/>
                <a:cs typeface="Lexend"/>
                <a:sym typeface="Lexend"/>
              </a:rPr>
              <a:t>Mon</a:t>
            </a:r>
            <a:endParaRPr sz="3200" b="1" i="0" u="none" strike="noStrike" cap="none">
              <a:solidFill>
                <a:srgbClr val="111E6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e7b5e6839_0_170"/>
          <p:cNvSpPr txBox="1">
            <a:spLocks noGrp="1"/>
          </p:cNvSpPr>
          <p:nvPr>
            <p:ph type="title"/>
          </p:nvPr>
        </p:nvSpPr>
        <p:spPr>
          <a:xfrm>
            <a:off x="991775" y="1172325"/>
            <a:ext cx="2853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Key Dates</a:t>
            </a:r>
            <a:endParaRPr sz="3000"/>
          </a:p>
        </p:txBody>
      </p:sp>
      <p:sp>
        <p:nvSpPr>
          <p:cNvPr id="148" name="Google Shape;148;g25e7b5e6839_0_170"/>
          <p:cNvSpPr txBox="1">
            <a:spLocks noGrp="1"/>
          </p:cNvSpPr>
          <p:nvPr>
            <p:ph type="body" idx="1"/>
          </p:nvPr>
        </p:nvSpPr>
        <p:spPr>
          <a:xfrm>
            <a:off x="591225" y="1800125"/>
            <a:ext cx="4514100" cy="22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u="sng">
                <a:solidFill>
                  <a:schemeClr val="dk1"/>
                </a:solidFill>
              </a:rPr>
              <a:t>D2	</a:t>
            </a:r>
            <a:r>
              <a:rPr lang="en" sz="2400">
                <a:solidFill>
                  <a:schemeClr val="dk1"/>
                </a:solidFill>
              </a:rPr>
              <a:t>: Research Problem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u="sng">
                <a:solidFill>
                  <a:schemeClr val="dk1"/>
                </a:solidFill>
              </a:rPr>
              <a:t>D3</a:t>
            </a:r>
            <a:r>
              <a:rPr lang="en" sz="2400">
                <a:solidFill>
                  <a:schemeClr val="dk1"/>
                </a:solidFill>
              </a:rPr>
              <a:t>: RRL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u="sng">
                <a:solidFill>
                  <a:schemeClr val="dk1"/>
                </a:solidFill>
              </a:rPr>
              <a:t>D3</a:t>
            </a:r>
            <a:r>
              <a:rPr lang="en" sz="2400">
                <a:solidFill>
                  <a:schemeClr val="dk1"/>
                </a:solidFill>
              </a:rPr>
              <a:t>: Research Methodology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u="sng">
                <a:solidFill>
                  <a:schemeClr val="dk1"/>
                </a:solidFill>
              </a:rPr>
              <a:t>D4</a:t>
            </a:r>
            <a:r>
              <a:rPr lang="en" sz="2400">
                <a:solidFill>
                  <a:schemeClr val="dk1"/>
                </a:solidFill>
              </a:rPr>
              <a:t>: Research Proposal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u="sng">
                <a:solidFill>
                  <a:schemeClr val="dk1"/>
                </a:solidFill>
              </a:rPr>
              <a:t>D5-6</a:t>
            </a:r>
            <a:r>
              <a:rPr lang="en" sz="2400">
                <a:solidFill>
                  <a:schemeClr val="dk1"/>
                </a:solidFill>
              </a:rPr>
              <a:t>: Oral Presentation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49" name="Google Shape;149;g25e7b5e6839_0_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5e7b5e6839_0_170"/>
          <p:cNvSpPr txBox="1">
            <a:spLocks noGrp="1"/>
          </p:cNvSpPr>
          <p:nvPr>
            <p:ph type="title"/>
          </p:nvPr>
        </p:nvSpPr>
        <p:spPr>
          <a:xfrm>
            <a:off x="5693400" y="1172325"/>
            <a:ext cx="2853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Highlights</a:t>
            </a:r>
            <a:endParaRPr sz="3000"/>
          </a:p>
        </p:txBody>
      </p:sp>
      <p:sp>
        <p:nvSpPr>
          <p:cNvPr id="151" name="Google Shape;151;g25e7b5e6839_0_170"/>
          <p:cNvSpPr txBox="1">
            <a:spLocks noGrp="1"/>
          </p:cNvSpPr>
          <p:nvPr>
            <p:ph type="body" idx="1"/>
          </p:nvPr>
        </p:nvSpPr>
        <p:spPr>
          <a:xfrm>
            <a:off x="5105325" y="1800125"/>
            <a:ext cx="4169400" cy="27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Quiz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❌"/>
            </a:pPr>
            <a:r>
              <a:rPr lang="en" sz="2400">
                <a:solidFill>
                  <a:schemeClr val="dk1"/>
                </a:solidFill>
              </a:rPr>
              <a:t>Exam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Application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Iterative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✓"/>
            </a:pPr>
            <a:r>
              <a:rPr lang="en" sz="2400">
                <a:solidFill>
                  <a:schemeClr val="dk1"/>
                </a:solidFill>
              </a:rPr>
              <a:t>Consultations</a:t>
            </a:r>
            <a:endParaRPr sz="2400">
              <a:solidFill>
                <a:schemeClr val="dk1"/>
              </a:solidFill>
            </a:endParaRPr>
          </a:p>
        </p:txBody>
      </p:sp>
      <p:cxnSp>
        <p:nvCxnSpPr>
          <p:cNvPr id="152" name="Google Shape;152;g25e7b5e6839_0_170"/>
          <p:cNvCxnSpPr/>
          <p:nvPr/>
        </p:nvCxnSpPr>
        <p:spPr>
          <a:xfrm>
            <a:off x="5016425" y="1153625"/>
            <a:ext cx="0" cy="3188700"/>
          </a:xfrm>
          <a:prstGeom prst="straightConnector1">
            <a:avLst/>
          </a:prstGeom>
          <a:noFill/>
          <a:ln w="28575" cap="flat" cmpd="sng">
            <a:solidFill>
              <a:srgbClr val="FFD1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25e7b5e6839_0_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5e7b5e6839_0_184"/>
          <p:cNvSpPr/>
          <p:nvPr/>
        </p:nvSpPr>
        <p:spPr>
          <a:xfrm>
            <a:off x="743975" y="739825"/>
            <a:ext cx="3612000" cy="708300"/>
          </a:xfrm>
          <a:prstGeom prst="roundRect">
            <a:avLst>
              <a:gd name="adj" fmla="val 16667"/>
            </a:avLst>
          </a:prstGeom>
          <a:solidFill>
            <a:srgbClr val="111E6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Rating System</a:t>
            </a:r>
            <a:endParaRPr sz="32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9" name="Google Shape;159;g25e7b5e6839_0_184"/>
          <p:cNvGraphicFramePr/>
          <p:nvPr/>
        </p:nvGraphicFramePr>
        <p:xfrm>
          <a:off x="743963" y="162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{38767656-C604-4CE3-AD7C-2939F53493EE}</a:tableStyleId>
              </a:tblPr>
              <a:tblGrid>
                <a:gridCol w="594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Workshop Outputs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40%</a:t>
                      </a:r>
                      <a:endParaRPr sz="20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Research Proposal &amp; Oral Presentation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35%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Participation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15%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Attendance &amp; Punctuality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%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b="1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</a:t>
                      </a:r>
                      <a:endParaRPr sz="2000" b="1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en" sz="2000" b="1" u="none" strike="noStrike" cap="none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100%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e7b5e6839_0_423"/>
          <p:cNvSpPr txBox="1"/>
          <p:nvPr/>
        </p:nvSpPr>
        <p:spPr>
          <a:xfrm>
            <a:off x="7311062" y="1497991"/>
            <a:ext cx="1405200" cy="22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0"/>
              <a:buFont typeface="Arial"/>
              <a:buNone/>
            </a:pPr>
            <a:endParaRPr sz="7400" b="0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  <a:t>Ask questions</a:t>
            </a:r>
            <a:endParaRPr sz="14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g25e7b5e6839_0_423"/>
          <p:cNvSpPr txBox="1"/>
          <p:nvPr/>
        </p:nvSpPr>
        <p:spPr>
          <a:xfrm>
            <a:off x="1901600" y="1513165"/>
            <a:ext cx="1886700" cy="22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0"/>
              <a:buFont typeface="Arial"/>
              <a:buNone/>
            </a:pPr>
            <a:endParaRPr sz="7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  <a:t>Be respectful towards everyone</a:t>
            </a:r>
            <a:endParaRPr sz="14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6" name="Google Shape;166;g25e7b5e6839_0_423"/>
          <p:cNvSpPr txBox="1"/>
          <p:nvPr/>
        </p:nvSpPr>
        <p:spPr>
          <a:xfrm>
            <a:off x="5494795" y="1513165"/>
            <a:ext cx="1485300" cy="24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0"/>
              <a:buFont typeface="Arial"/>
              <a:buNone/>
            </a:pPr>
            <a:endParaRPr sz="7400" b="0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  <a:t>Participate! All ideas are welcome</a:t>
            </a:r>
            <a:endParaRPr sz="14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7" name="Google Shape;167;g25e7b5e6839_0_423"/>
          <p:cNvSpPr txBox="1"/>
          <p:nvPr/>
        </p:nvSpPr>
        <p:spPr>
          <a:xfrm>
            <a:off x="3874052" y="1513154"/>
            <a:ext cx="1405200" cy="22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0"/>
              <a:buFont typeface="Arial"/>
              <a:buNone/>
            </a:pPr>
            <a:endParaRPr sz="7400" b="0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  <a:t>Trust the process</a:t>
            </a:r>
            <a:endParaRPr sz="14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68" name="Google Shape;168;g25e7b5e6839_0_4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5604" y="1437375"/>
            <a:ext cx="1214428" cy="12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25e7b5e6839_0_4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476" y="1541010"/>
            <a:ext cx="1181102" cy="1108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5e7b5e6839_0_4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7031" y="1492885"/>
            <a:ext cx="1214436" cy="121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5e7b5e6839_0_4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5862" y="1472447"/>
            <a:ext cx="1336834" cy="126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5e7b5e6839_0_423"/>
          <p:cNvSpPr txBox="1"/>
          <p:nvPr/>
        </p:nvSpPr>
        <p:spPr>
          <a:xfrm>
            <a:off x="72800" y="1513165"/>
            <a:ext cx="1886700" cy="22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0"/>
              <a:buFont typeface="Arial"/>
              <a:buNone/>
            </a:pPr>
            <a:endParaRPr sz="7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  <a:t>Keep the </a:t>
            </a:r>
            <a:b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" sz="1400" b="1" i="0" u="none" strike="noStrike" cap="none">
                <a:solidFill>
                  <a:srgbClr val="00205C"/>
                </a:solidFill>
                <a:latin typeface="Rubik"/>
                <a:ea typeface="Rubik"/>
                <a:cs typeface="Rubik"/>
                <a:sym typeface="Rubik"/>
              </a:rPr>
              <a:t>space safe</a:t>
            </a:r>
            <a:endParaRPr sz="1400" b="1" i="0" u="none" strike="noStrike" cap="none">
              <a:solidFill>
                <a:srgbClr val="00205C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73" name="Google Shape;173;g25e7b5e6839_0_423"/>
          <p:cNvPicPr preferRelativeResize="0"/>
          <p:nvPr/>
        </p:nvPicPr>
        <p:blipFill rotWithShape="1">
          <a:blip r:embed="rId7">
            <a:alphaModFix/>
          </a:blip>
          <a:srcRect l="-3613" r="361"/>
          <a:stretch/>
        </p:blipFill>
        <p:spPr>
          <a:xfrm>
            <a:off x="364100" y="1553487"/>
            <a:ext cx="1278125" cy="1167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5e7b5e6839_0_4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e7b5e6839_0_295"/>
          <p:cNvSpPr txBox="1">
            <a:spLocks noGrp="1"/>
          </p:cNvSpPr>
          <p:nvPr>
            <p:ph type="title"/>
          </p:nvPr>
        </p:nvSpPr>
        <p:spPr>
          <a:xfrm>
            <a:off x="591225" y="255550"/>
            <a:ext cx="615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Group 1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Coach: Kuya AL</a:t>
            </a:r>
            <a:endParaRPr sz="3000"/>
          </a:p>
        </p:txBody>
      </p:sp>
      <p:sp>
        <p:nvSpPr>
          <p:cNvPr id="180" name="Google Shape;180;g25e7b5e6839_0_295"/>
          <p:cNvSpPr txBox="1">
            <a:spLocks noGrp="1"/>
          </p:cNvSpPr>
          <p:nvPr>
            <p:ph type="body" idx="1"/>
          </p:nvPr>
        </p:nvSpPr>
        <p:spPr>
          <a:xfrm>
            <a:off x="576900" y="1304375"/>
            <a:ext cx="7887600" cy="3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Armina Mangahas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Allan Ocal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April Rose Galutan- Sabug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Jess Eliezer Gannaban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Ody Graneta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Princes Baisa</a:t>
            </a:r>
            <a:endParaRPr sz="2400" b="1">
              <a:solidFill>
                <a:srgbClr val="274E13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Reo Claire Alosado</a:t>
            </a:r>
            <a:endParaRPr sz="2400" b="1">
              <a:solidFill>
                <a:srgbClr val="274E13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Shara Jane Pizarro</a:t>
            </a:r>
            <a:endParaRPr sz="2400" b="1">
              <a:solidFill>
                <a:srgbClr val="274E13"/>
              </a:solidFill>
            </a:endParaRPr>
          </a:p>
        </p:txBody>
      </p:sp>
      <p:pic>
        <p:nvPicPr>
          <p:cNvPr id="181" name="Google Shape;181;g25e7b5e6839_0_2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e8c3e2ae0_0_27"/>
          <p:cNvSpPr txBox="1">
            <a:spLocks noGrp="1"/>
          </p:cNvSpPr>
          <p:nvPr>
            <p:ph type="title"/>
          </p:nvPr>
        </p:nvSpPr>
        <p:spPr>
          <a:xfrm>
            <a:off x="591225" y="255550"/>
            <a:ext cx="615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Group 2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Coach: Kuya Dan</a:t>
            </a:r>
            <a:endParaRPr sz="3000"/>
          </a:p>
        </p:txBody>
      </p:sp>
      <p:sp>
        <p:nvSpPr>
          <p:cNvPr id="187" name="Google Shape;187;g26e8c3e2ae0_0_27"/>
          <p:cNvSpPr txBox="1">
            <a:spLocks noGrp="1"/>
          </p:cNvSpPr>
          <p:nvPr>
            <p:ph type="body" idx="1"/>
          </p:nvPr>
        </p:nvSpPr>
        <p:spPr>
          <a:xfrm>
            <a:off x="576900" y="1359875"/>
            <a:ext cx="8006100" cy="3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Alex Ian Pacis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Candice Marie Santiago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Ver Paolo Escobido</a:t>
            </a:r>
            <a:endParaRPr sz="2400">
              <a:solidFill>
                <a:schemeClr val="dk1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5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Herald Daguyam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5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Marian Karyl Calapine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5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Suzette Baysauli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595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Patrick Tekwaban</a:t>
            </a:r>
            <a:endParaRPr sz="2400" b="1">
              <a:solidFill>
                <a:srgbClr val="274E13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595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Ranielle Pauline Delos Reyes</a:t>
            </a:r>
            <a:endParaRPr sz="2400" b="1">
              <a:solidFill>
                <a:srgbClr val="274E1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188" name="Google Shape;188;g26e8c3e2ae0_0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e8c3e2ae0_0_33"/>
          <p:cNvSpPr txBox="1">
            <a:spLocks noGrp="1"/>
          </p:cNvSpPr>
          <p:nvPr>
            <p:ph type="title"/>
          </p:nvPr>
        </p:nvSpPr>
        <p:spPr>
          <a:xfrm>
            <a:off x="591225" y="255550"/>
            <a:ext cx="615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Group 3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Coach: Kuya JP</a:t>
            </a:r>
            <a:endParaRPr sz="3000"/>
          </a:p>
        </p:txBody>
      </p:sp>
      <p:sp>
        <p:nvSpPr>
          <p:cNvPr id="194" name="Google Shape;194;g26e8c3e2ae0_0_33"/>
          <p:cNvSpPr txBox="1">
            <a:spLocks noGrp="1"/>
          </p:cNvSpPr>
          <p:nvPr>
            <p:ph type="body" idx="1"/>
          </p:nvPr>
        </p:nvSpPr>
        <p:spPr>
          <a:xfrm>
            <a:off x="576900" y="1396875"/>
            <a:ext cx="8006100" cy="3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Ladaigne Appoy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John Renze Gelua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5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Jubereen Flores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5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Juden Beth Magciano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5"/>
              <a:buAutoNum type="arabicPeriod"/>
            </a:pPr>
            <a:r>
              <a:rPr lang="en" sz="2400" b="1">
                <a:solidFill>
                  <a:srgbClr val="0000FF"/>
                </a:solidFill>
              </a:rPr>
              <a:t>Kathrina Lazaro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595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Lovilyne Dugas</a:t>
            </a:r>
            <a:endParaRPr sz="2400" b="1">
              <a:solidFill>
                <a:srgbClr val="274E13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595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Michelle Angwani</a:t>
            </a:r>
            <a:endParaRPr sz="2400" b="1">
              <a:solidFill>
                <a:srgbClr val="274E13"/>
              </a:solidFill>
            </a:endParaRPr>
          </a:p>
        </p:txBody>
      </p:sp>
      <p:pic>
        <p:nvPicPr>
          <p:cNvPr id="195" name="Google Shape;195;g26e8c3e2ae0_0_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e8c3e2ae0_0_39"/>
          <p:cNvSpPr txBox="1">
            <a:spLocks noGrp="1"/>
          </p:cNvSpPr>
          <p:nvPr>
            <p:ph type="title"/>
          </p:nvPr>
        </p:nvSpPr>
        <p:spPr>
          <a:xfrm>
            <a:off x="591225" y="255550"/>
            <a:ext cx="615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Group 4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000"/>
              <a:t>Coach: Ate Jane</a:t>
            </a:r>
            <a:endParaRPr sz="3000"/>
          </a:p>
        </p:txBody>
      </p:sp>
      <p:sp>
        <p:nvSpPr>
          <p:cNvPr id="201" name="Google Shape;201;g26e8c3e2ae0_0_39"/>
          <p:cNvSpPr txBox="1">
            <a:spLocks noGrp="1"/>
          </p:cNvSpPr>
          <p:nvPr>
            <p:ph type="body" idx="1"/>
          </p:nvPr>
        </p:nvSpPr>
        <p:spPr>
          <a:xfrm>
            <a:off x="576900" y="1341375"/>
            <a:ext cx="8006100" cy="3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Albert De Los Santos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Drixel Tagubasi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95"/>
              <a:buAutoNum type="arabicPeriod"/>
            </a:pPr>
            <a:r>
              <a:rPr lang="en" sz="2400" b="1">
                <a:solidFill>
                  <a:srgbClr val="980000"/>
                </a:solidFill>
              </a:rPr>
              <a:t>Glaiza Patongao</a:t>
            </a:r>
            <a:endParaRPr sz="2400" b="1">
              <a:solidFill>
                <a:srgbClr val="980000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595"/>
              <a:buAutoNum type="arabicPeriod"/>
            </a:pPr>
            <a:r>
              <a:rPr lang="en" sz="2400" b="1">
                <a:solidFill>
                  <a:srgbClr val="073763"/>
                </a:solidFill>
              </a:rPr>
              <a:t>Jennifer Masina</a:t>
            </a:r>
            <a:endParaRPr sz="2400" b="1">
              <a:solidFill>
                <a:srgbClr val="073763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595"/>
              <a:buAutoNum type="arabicPeriod"/>
            </a:pPr>
            <a:r>
              <a:rPr lang="en" sz="2400" b="1">
                <a:solidFill>
                  <a:srgbClr val="073763"/>
                </a:solidFill>
              </a:rPr>
              <a:t>Kharla Lhyn Depalog</a:t>
            </a:r>
            <a:endParaRPr sz="2400" b="1">
              <a:solidFill>
                <a:srgbClr val="073763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595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Jemellyn Alo</a:t>
            </a:r>
            <a:endParaRPr sz="2400" b="1">
              <a:solidFill>
                <a:srgbClr val="274E13"/>
              </a:solidFill>
            </a:endParaRPr>
          </a:p>
          <a:p>
            <a:pPr marL="457200" lvl="0" indent="-3933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595"/>
              <a:buAutoNum type="arabicPeriod"/>
            </a:pPr>
            <a:r>
              <a:rPr lang="en" sz="2400" b="1">
                <a:solidFill>
                  <a:srgbClr val="274E13"/>
                </a:solidFill>
              </a:rPr>
              <a:t>Marilyn Tocyapao</a:t>
            </a:r>
            <a:endParaRPr sz="2400" b="1">
              <a:solidFill>
                <a:srgbClr val="274E13"/>
              </a:solidFill>
            </a:endParaRPr>
          </a:p>
        </p:txBody>
      </p:sp>
      <p:pic>
        <p:nvPicPr>
          <p:cNvPr id="202" name="Google Shape;202;g26e8c3e2ae0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eab79773f_0_0"/>
          <p:cNvSpPr txBox="1">
            <a:spLocks noGrp="1"/>
          </p:cNvSpPr>
          <p:nvPr>
            <p:ph type="title"/>
          </p:nvPr>
        </p:nvSpPr>
        <p:spPr>
          <a:xfrm>
            <a:off x="647150" y="1439100"/>
            <a:ext cx="80199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e8e005ba6_4_0"/>
          <p:cNvSpPr txBox="1"/>
          <p:nvPr/>
        </p:nvSpPr>
        <p:spPr>
          <a:xfrm>
            <a:off x="1255225" y="1411324"/>
            <a:ext cx="6711900" cy="21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BASIC RESEARCH</a:t>
            </a:r>
            <a:endParaRPr sz="60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>
                <a:solidFill>
                  <a:srgbClr val="0034AF"/>
                </a:solidFill>
                <a:latin typeface="Lexend"/>
                <a:ea typeface="Lexend"/>
                <a:cs typeface="Lexend"/>
                <a:sym typeface="Lexend"/>
              </a:rPr>
              <a:t>Module Overview</a:t>
            </a:r>
            <a:endParaRPr sz="60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g25e8e005ba6_4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">
            <a:off x="-655381" y="2922092"/>
            <a:ext cx="3338714" cy="275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25e8e005ba6_4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6250" y="-69825"/>
            <a:ext cx="1163100" cy="8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25e8e005ba6_4_0" title="Star Wars Main Theme (Full).mp3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Office PowerPoint</Application>
  <PresentationFormat>On-screen Show (16:9)</PresentationFormat>
  <Paragraphs>172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 Black</vt:lpstr>
      <vt:lpstr>Calibri</vt:lpstr>
      <vt:lpstr>Lexend</vt:lpstr>
      <vt:lpstr>Proxima Nova</vt:lpstr>
      <vt:lpstr>Nunito</vt:lpstr>
      <vt:lpstr>Arial</vt:lpstr>
      <vt:lpstr>Rubik</vt:lpstr>
      <vt:lpstr>Lexend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OBJECTIVE Apply basic research concepts in developing a research proposal on topics related to local governance</vt:lpstr>
      <vt:lpstr>Specific Objectives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Dates</vt:lpstr>
      <vt:lpstr>PowerPoint Presentation</vt:lpstr>
      <vt:lpstr>PowerPoint Presentation</vt:lpstr>
      <vt:lpstr>Group 1 Coach: Kuya AL</vt:lpstr>
      <vt:lpstr>Group 2 Coach: Kuya Dan</vt:lpstr>
      <vt:lpstr>Group 3 Coach: Kuya JP</vt:lpstr>
      <vt:lpstr>Group 4 Coach: Ate Jane</vt:lpstr>
      <vt:lpstr>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kevin aquino</cp:lastModifiedBy>
  <cp:revision>2</cp:revision>
  <dcterms:modified xsi:type="dcterms:W3CDTF">2026-02-04T05:34:29Z</dcterms:modified>
</cp:coreProperties>
</file>